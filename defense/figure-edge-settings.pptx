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2222"/>
                </a:solidFill>
                <a:latin typeface="Calibri"/>
              </a:rPr>
              <a:t>Smart spaces span diverse edge settings</a:t>
            </a:r>
          </a:p>
        </p:txBody>
      </p:sp>
      <p:pic>
        <p:nvPicPr>
          <p:cNvPr id="3" name="Picture 2" descr="smar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827" y="1234440"/>
            <a:ext cx="1873373" cy="1988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223260"/>
            <a:ext cx="538718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6FB2"/>
                </a:solidFill>
                <a:latin typeface="Calibri"/>
              </a:rPr>
              <a:t>(a) </a:t>
            </a:r>
            <a:r>
              <a:rPr sz="1600" b="1">
                <a:solidFill>
                  <a:srgbClr val="222222"/>
                </a:solidFill>
                <a:latin typeface="Calibri"/>
              </a:rPr>
              <a:t>Smart Home</a:t>
            </a:r>
          </a:p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10s of devices</a:t>
            </a:r>
          </a:p>
        </p:txBody>
      </p:sp>
      <p:pic>
        <p:nvPicPr>
          <p:cNvPr id="5" name="Picture 4" descr="smart-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163" y="1234440"/>
            <a:ext cx="4598035" cy="19888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1587" y="3223260"/>
            <a:ext cx="538718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6FB2"/>
                </a:solidFill>
                <a:latin typeface="Calibri"/>
              </a:rPr>
              <a:t>(b) </a:t>
            </a:r>
            <a:r>
              <a:rPr sz="1600" b="1">
                <a:solidFill>
                  <a:srgbClr val="222222"/>
                </a:solidFill>
                <a:latin typeface="Calibri"/>
              </a:rPr>
              <a:t>Smart Building</a:t>
            </a:r>
          </a:p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100s–1000s of devices</a:t>
            </a:r>
          </a:p>
        </p:txBody>
      </p:sp>
      <p:pic>
        <p:nvPicPr>
          <p:cNvPr id="7" name="Picture 6" descr="smart-f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47069"/>
            <a:ext cx="5387187" cy="17871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035040"/>
            <a:ext cx="538718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6FB2"/>
                </a:solidFill>
                <a:latin typeface="Calibri"/>
              </a:rPr>
              <a:t>(c) </a:t>
            </a:r>
            <a:r>
              <a:rPr sz="1600" b="1">
                <a:solidFill>
                  <a:srgbClr val="222222"/>
                </a:solidFill>
                <a:latin typeface="Calibri"/>
              </a:rPr>
              <a:t>Smart Farm</a:t>
            </a:r>
          </a:p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distributed, outdoors</a:t>
            </a:r>
          </a:p>
        </p:txBody>
      </p:sp>
      <p:pic>
        <p:nvPicPr>
          <p:cNvPr id="9" name="Picture 8" descr="smart-fa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236" y="4046220"/>
            <a:ext cx="4183888" cy="1988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1587" y="6035040"/>
            <a:ext cx="538718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6FB2"/>
                </a:solidFill>
                <a:latin typeface="Calibri"/>
              </a:rPr>
              <a:t>(d) </a:t>
            </a:r>
            <a:r>
              <a:rPr sz="1600" b="1">
                <a:solidFill>
                  <a:srgbClr val="222222"/>
                </a:solidFill>
                <a:latin typeface="Calibri"/>
              </a:rPr>
              <a:t>Smart Factory</a:t>
            </a:r>
          </a:p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industrial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