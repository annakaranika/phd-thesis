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58"/>
  </p:normalViewPr>
  <p:slideViewPr>
    <p:cSldViewPr snapToGrid="0" snapToObjects="1">
      <p:cViewPr varScale="1">
        <p:scale>
          <a:sx n="70" d="100"/>
          <a:sy n="70" d="100"/>
        </p:scale>
        <p:origin x="184" y="1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76518" y="658368"/>
            <a:ext cx="6438657" cy="1170664"/>
          </a:xfrm>
          <a:prstGeom prst="roundRect">
            <a:avLst>
              <a:gd name="adj" fmla="val 5000"/>
            </a:avLst>
          </a:prstGeom>
          <a:solidFill>
            <a:srgbClr val="FFF5EB"/>
          </a:solidFill>
          <a:ln w="15875">
            <a:solidFill>
              <a:srgbClr val="FFB9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76518" y="1985121"/>
            <a:ext cx="6438657" cy="1677953"/>
          </a:xfrm>
          <a:prstGeom prst="roundRect">
            <a:avLst>
              <a:gd name="adj" fmla="val 5000"/>
            </a:avLst>
          </a:prstGeom>
          <a:solidFill>
            <a:srgbClr val="EBEBFF"/>
          </a:solidFill>
          <a:ln w="15875">
            <a:solidFill>
              <a:srgbClr val="80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76518" y="3819163"/>
            <a:ext cx="6438657" cy="1326753"/>
          </a:xfrm>
          <a:prstGeom prst="roundRect">
            <a:avLst>
              <a:gd name="adj" fmla="val 5000"/>
            </a:avLst>
          </a:prstGeom>
          <a:solidFill>
            <a:srgbClr val="E8F4F4"/>
          </a:solidFill>
          <a:ln w="15875">
            <a:solidFill>
              <a:srgbClr val="73B9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76518" y="5302005"/>
            <a:ext cx="6438657" cy="1482842"/>
          </a:xfrm>
          <a:prstGeom prst="roundRect">
            <a:avLst>
              <a:gd name="adj" fmla="val 5000"/>
            </a:avLst>
          </a:prstGeom>
          <a:solidFill>
            <a:srgbClr val="F0F0F0"/>
          </a:solidFill>
          <a:ln w="15875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17940" y="1829032"/>
            <a:ext cx="0" cy="156089"/>
          </a:xfrm>
          <a:prstGeom prst="line">
            <a:avLst/>
          </a:prstGeom>
          <a:ln w="25400">
            <a:solidFill>
              <a:srgbClr val="9696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17940" y="3663074"/>
            <a:ext cx="0" cy="156089"/>
          </a:xfrm>
          <a:prstGeom prst="line">
            <a:avLst/>
          </a:prstGeom>
          <a:ln w="25400">
            <a:solidFill>
              <a:srgbClr val="9696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17940" y="5145917"/>
            <a:ext cx="0" cy="156088"/>
          </a:xfrm>
          <a:prstGeom prst="line">
            <a:avLst/>
          </a:prstGeom>
          <a:ln w="25400">
            <a:solidFill>
              <a:srgbClr val="9696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13096" y="792949"/>
            <a:ext cx="1740027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Control in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3096" y="1039321"/>
            <a:ext cx="679576" cy="1746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  <a:latin typeface="Arial"/>
              </a:rPr>
              <a:t>Chapter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3096" y="1248311"/>
            <a:ext cx="1911477" cy="381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Arial"/>
              </a:rPr>
              <a:t>How do occupants view</a:t>
            </a:r>
          </a:p>
          <a:p>
            <a:pPr algn="l"/>
            <a:r>
              <a:rPr sz="1200" b="0" i="1">
                <a:solidFill>
                  <a:srgbClr val="404040"/>
                </a:solidFill>
                <a:latin typeface="Arial"/>
              </a:rPr>
              <a:t>and use control interfaces?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639" y="689585"/>
            <a:ext cx="155600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/>
          <a:lstStyle/>
          <a:p>
            <a:pPr algn="r"/>
            <a:r>
              <a:rPr sz="950" b="1" dirty="0">
                <a:solidFill>
                  <a:srgbClr val="141414"/>
                </a:solidFill>
                <a:latin typeface="Arial"/>
              </a:rPr>
              <a:t>Human interaction plane</a:t>
            </a:r>
          </a:p>
          <a:p>
            <a:pPr algn="r"/>
            <a:r>
              <a:rPr sz="850" i="1" dirty="0">
                <a:solidFill>
                  <a:srgbClr val="5F5F5F"/>
                </a:solidFill>
                <a:latin typeface="Arial"/>
              </a:rPr>
              <a:t>usability</a:t>
            </a:r>
          </a:p>
        </p:txBody>
      </p:sp>
      <p:pic>
        <p:nvPicPr>
          <p:cNvPr id="15" name="Picture 14" descr="smart-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456" y="986154"/>
            <a:ext cx="241937" cy="24193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72859" y="958838"/>
            <a:ext cx="148284" cy="25754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238221" y="1164680"/>
            <a:ext cx="17559" cy="17559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7433" y="1029078"/>
            <a:ext cx="224377" cy="117066"/>
          </a:xfrm>
          <a:prstGeom prst="roundRect">
            <a:avLst>
              <a:gd name="adj" fmla="val 30000"/>
            </a:avLst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85960" y="1075417"/>
            <a:ext cx="24388" cy="24388"/>
          </a:xfrm>
          <a:prstGeom prst="ellipse">
            <a:avLst/>
          </a:prstGeom>
          <a:solidFill>
            <a:srgbClr val="00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8256700" y="951034"/>
            <a:ext cx="19511" cy="78044"/>
          </a:xfrm>
          <a:prstGeom prst="line">
            <a:avLst/>
          </a:prstGeom>
          <a:ln w="1778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329866" y="941278"/>
            <a:ext cx="0" cy="87800"/>
          </a:xfrm>
          <a:prstGeom prst="line">
            <a:avLst/>
          </a:prstGeom>
          <a:ln w="1778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0749" y="1269818"/>
            <a:ext cx="4033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05050"/>
                </a:solidFill>
                <a:latin typeface="Arial"/>
              </a:rPr>
              <a:t>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4675" y="1250307"/>
            <a:ext cx="6446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 dirty="0">
                <a:solidFill>
                  <a:srgbClr val="505050"/>
                </a:solidFill>
                <a:latin typeface="Arial"/>
              </a:rPr>
              <a:t>vendor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3646" y="1269818"/>
            <a:ext cx="6319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 dirty="0">
                <a:solidFill>
                  <a:srgbClr val="505050"/>
                </a:solidFill>
                <a:latin typeface="Arial"/>
              </a:rPr>
              <a:t>hub / cloud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91004" y="1165656"/>
            <a:ext cx="312177" cy="0"/>
          </a:xfrm>
          <a:prstGeom prst="line">
            <a:avLst/>
          </a:prstGeom>
          <a:ln w="25400">
            <a:solidFill>
              <a:srgbClr val="9696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20247" y="1555877"/>
            <a:ext cx="2653508" cy="0"/>
          </a:xfrm>
          <a:prstGeom prst="line">
            <a:avLst/>
          </a:prstGeom>
          <a:ln w="19050">
            <a:solidFill>
              <a:srgbClr val="78787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89474" y="1601506"/>
            <a:ext cx="48590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05050"/>
                </a:solidFill>
                <a:latin typeface="Arial"/>
              </a:rPr>
              <a:t>physical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9163" y="1601506"/>
            <a:ext cx="11526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05050"/>
                </a:solidFill>
                <a:latin typeface="Arial"/>
              </a:rPr>
              <a:t>proxy-based (central)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3096" y="2178236"/>
            <a:ext cx="812927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CoMesh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3096" y="2424608"/>
            <a:ext cx="679576" cy="1746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  <a:latin typeface="Arial"/>
              </a:rPr>
              <a:t>Chapter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3096" y="2653109"/>
            <a:ext cx="1879726" cy="381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Arial"/>
              </a:rPr>
              <a:t>Where should control logic</a:t>
            </a:r>
          </a:p>
          <a:p>
            <a:pPr algn="l"/>
            <a:r>
              <a:rPr sz="1200" b="0" i="1">
                <a:solidFill>
                  <a:srgbClr val="404040"/>
                </a:solidFill>
                <a:latin typeface="Arial"/>
              </a:rPr>
              <a:t>run?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51389" y="2016339"/>
            <a:ext cx="1905254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/>
          <a:lstStyle/>
          <a:p>
            <a:pPr algn="r"/>
            <a:r>
              <a:rPr sz="950" b="1">
                <a:solidFill>
                  <a:srgbClr val="141414"/>
                </a:solidFill>
                <a:latin typeface="Arial"/>
              </a:rPr>
              <a:t>Smart-space automation plane</a:t>
            </a:r>
          </a:p>
          <a:p>
            <a:pPr algn="r"/>
            <a:r>
              <a:rPr sz="850" i="1">
                <a:solidFill>
                  <a:srgbClr val="5F5F5F"/>
                </a:solidFill>
                <a:latin typeface="Arial"/>
              </a:rPr>
              <a:t>scalability &amp; fault tolerance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491004" y="2414365"/>
            <a:ext cx="273155" cy="429244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91004" y="2843609"/>
            <a:ext cx="546310" cy="273155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64159" y="2414365"/>
            <a:ext cx="819465" cy="390222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37314" y="2804587"/>
            <a:ext cx="546310" cy="312177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37314" y="3116764"/>
            <a:ext cx="702399" cy="39022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583624" y="2804587"/>
            <a:ext cx="156089" cy="351199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583624" y="2609476"/>
            <a:ext cx="702399" cy="195111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739713" y="2609476"/>
            <a:ext cx="546310" cy="546310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286023" y="2609476"/>
            <a:ext cx="546310" cy="273155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286023" y="2609476"/>
            <a:ext cx="936532" cy="0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832333" y="2609476"/>
            <a:ext cx="390222" cy="273155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64159" y="2414365"/>
            <a:ext cx="1521864" cy="195111"/>
          </a:xfrm>
          <a:prstGeom prst="line">
            <a:avLst/>
          </a:prstGeom>
          <a:ln w="9525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892932" y="2660205"/>
            <a:ext cx="991163" cy="639963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4040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415829" y="2441680"/>
            <a:ext cx="1037989" cy="881900"/>
          </a:xfrm>
          <a:prstGeom prst="roundRect">
            <a:avLst>
              <a:gd name="adj" fmla="val 10000"/>
            </a:avLst>
          </a:prstGeom>
          <a:noFill/>
          <a:ln w="12700">
            <a:solidFill>
              <a:srgbClr val="005AA6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smart-coffee-m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937" y="2726542"/>
            <a:ext cx="234132" cy="234132"/>
          </a:xfrm>
          <a:prstGeom prst="rect">
            <a:avLst/>
          </a:prstGeom>
        </p:spPr>
      </p:pic>
      <p:pic>
        <p:nvPicPr>
          <p:cNvPr id="48" name="Picture 47" descr="smart-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092" y="2297298"/>
            <a:ext cx="234132" cy="234132"/>
          </a:xfrm>
          <a:prstGeom prst="rect">
            <a:avLst/>
          </a:prstGeom>
        </p:spPr>
      </p:pic>
      <p:pic>
        <p:nvPicPr>
          <p:cNvPr id="49" name="Picture 48" descr="smart-spea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47" y="2999697"/>
            <a:ext cx="234132" cy="234132"/>
          </a:xfrm>
          <a:prstGeom prst="rect">
            <a:avLst/>
          </a:prstGeom>
        </p:spPr>
      </p:pic>
      <p:pic>
        <p:nvPicPr>
          <p:cNvPr id="50" name="Picture 49" descr="smart-fri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576" y="2687520"/>
            <a:ext cx="230096" cy="234132"/>
          </a:xfrm>
          <a:prstGeom prst="rect">
            <a:avLst/>
          </a:prstGeom>
        </p:spPr>
      </p:pic>
      <p:pic>
        <p:nvPicPr>
          <p:cNvPr id="51" name="Picture 50" descr="smart-vacuu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646" y="3038720"/>
            <a:ext cx="234132" cy="234132"/>
          </a:xfrm>
          <a:prstGeom prst="rect">
            <a:avLst/>
          </a:prstGeom>
        </p:spPr>
      </p:pic>
      <p:pic>
        <p:nvPicPr>
          <p:cNvPr id="52" name="Picture 51" descr="came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957" y="2492409"/>
            <a:ext cx="234132" cy="234132"/>
          </a:xfrm>
          <a:prstGeom prst="rect">
            <a:avLst/>
          </a:prstGeom>
        </p:spPr>
      </p:pic>
      <p:pic>
        <p:nvPicPr>
          <p:cNvPr id="53" name="Picture 52" descr="smart-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562" y="2765564"/>
            <a:ext cx="229542" cy="234132"/>
          </a:xfrm>
          <a:prstGeom prst="rect">
            <a:avLst/>
          </a:prstGeom>
        </p:spPr>
      </p:pic>
      <p:pic>
        <p:nvPicPr>
          <p:cNvPr id="54" name="Picture 53" descr="motion-sens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5489" y="2492409"/>
            <a:ext cx="234132" cy="23413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946354" y="3337993"/>
            <a:ext cx="4160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4040FF"/>
                </a:solidFill>
                <a:latin typeface="Arial"/>
              </a:rPr>
              <a:t>coterie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60931" y="3337993"/>
            <a:ext cx="4160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 dirty="0">
                <a:solidFill>
                  <a:srgbClr val="005AA6"/>
                </a:solidFill>
                <a:latin typeface="Arial"/>
              </a:rPr>
              <a:t>coterie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91211" y="2821756"/>
            <a:ext cx="233352" cy="121749"/>
          </a:xfrm>
          <a:prstGeom prst="roundRect">
            <a:avLst>
              <a:gd name="adj" fmla="val 30000"/>
            </a:avLst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56080" y="2869949"/>
            <a:ext cx="25364" cy="25364"/>
          </a:xfrm>
          <a:prstGeom prst="ellipse">
            <a:avLst/>
          </a:prstGeom>
          <a:solidFill>
            <a:srgbClr val="00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 flipH="1" flipV="1">
            <a:off x="8721649" y="2740590"/>
            <a:ext cx="20291" cy="81166"/>
          </a:xfrm>
          <a:prstGeom prst="line">
            <a:avLst/>
          </a:prstGeom>
          <a:ln w="1778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797742" y="2730444"/>
            <a:ext cx="0" cy="91312"/>
          </a:xfrm>
          <a:prstGeom prst="line">
            <a:avLst/>
          </a:prstGeom>
          <a:ln w="17780">
            <a:solidFill>
              <a:srgbClr val="2E2E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671310" y="2765564"/>
            <a:ext cx="273155" cy="234133"/>
          </a:xfrm>
          <a:prstGeom prst="line">
            <a:avLst/>
          </a:prstGeom>
          <a:ln w="31750">
            <a:solidFill>
              <a:srgbClr val="EB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596687" y="3103860"/>
            <a:ext cx="42240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EB4646"/>
                </a:solidFill>
                <a:latin typeface="Arial"/>
              </a:rPr>
              <a:t>no hub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13096" y="3973256"/>
            <a:ext cx="609727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RASC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3096" y="4219627"/>
            <a:ext cx="679576" cy="1746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787878"/>
                </a:solidFill>
                <a:latin typeface="Arial"/>
              </a:rPr>
              <a:t>Chapter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13096" y="4352878"/>
            <a:ext cx="1768602" cy="571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404040"/>
                </a:solidFill>
                <a:latin typeface="Arial"/>
              </a:rPr>
              <a:t>How do automations and</a:t>
            </a:r>
          </a:p>
          <a:p>
            <a:pPr algn="l"/>
            <a:r>
              <a:rPr sz="1200" b="0" i="1">
                <a:solidFill>
                  <a:srgbClr val="404040"/>
                </a:solidFill>
                <a:latin typeface="Arial"/>
              </a:rPr>
              <a:t>occupants observe and</a:t>
            </a:r>
          </a:p>
          <a:p>
            <a:pPr algn="l"/>
            <a:r>
              <a:rPr sz="1200" b="0" i="1">
                <a:solidFill>
                  <a:srgbClr val="404040"/>
                </a:solidFill>
                <a:latin typeface="Arial"/>
              </a:rPr>
              <a:t>program actions?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08564" y="3850381"/>
            <a:ext cx="1648079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6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/>
          <a:lstStyle/>
          <a:p>
            <a:pPr algn="r"/>
            <a:r>
              <a:rPr sz="950" b="1">
                <a:solidFill>
                  <a:srgbClr val="141414"/>
                </a:solidFill>
                <a:latin typeface="Arial"/>
              </a:rPr>
              <a:t>Device action plane</a:t>
            </a:r>
          </a:p>
          <a:p>
            <a:pPr algn="r"/>
            <a:r>
              <a:rPr sz="850" i="1">
                <a:solidFill>
                  <a:srgbClr val="5F5F5F"/>
                </a:solidFill>
                <a:latin typeface="Arial"/>
              </a:rPr>
              <a:t>observability &amp; programmability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01253" y="4355718"/>
            <a:ext cx="257546" cy="66337"/>
          </a:xfrm>
          <a:prstGeom prst="roundRect">
            <a:avLst>
              <a:gd name="adj" fmla="val 25000"/>
            </a:avLst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5430519" y="4379131"/>
            <a:ext cx="19511" cy="19511"/>
          </a:xfrm>
          <a:prstGeom prst="ellipse">
            <a:avLst/>
          </a:prstGeom>
          <a:solidFill>
            <a:srgbClr val="00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401253" y="4449371"/>
            <a:ext cx="257546" cy="66337"/>
          </a:xfrm>
          <a:prstGeom prst="roundRect">
            <a:avLst>
              <a:gd name="adj" fmla="val 25000"/>
            </a:avLst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5430519" y="4472784"/>
            <a:ext cx="19511" cy="19511"/>
          </a:xfrm>
          <a:prstGeom prst="ellipse">
            <a:avLst/>
          </a:prstGeom>
          <a:solidFill>
            <a:srgbClr val="00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5401253" y="4543024"/>
            <a:ext cx="257546" cy="66337"/>
          </a:xfrm>
          <a:prstGeom prst="roundRect">
            <a:avLst>
              <a:gd name="adj" fmla="val 25000"/>
            </a:avLst>
          </a:prstGeom>
          <a:solidFill>
            <a:srgbClr val="2E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5430519" y="4566437"/>
            <a:ext cx="19511" cy="19511"/>
          </a:xfrm>
          <a:prstGeom prst="ellipse">
            <a:avLst/>
          </a:prstGeom>
          <a:solidFill>
            <a:srgbClr val="009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322000" y="4664746"/>
            <a:ext cx="4160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F5F5F"/>
                </a:solidFill>
                <a:latin typeface="Arial"/>
              </a:rPr>
              <a:t>control</a:t>
            </a:r>
          </a:p>
        </p:txBody>
      </p:sp>
      <p:pic>
        <p:nvPicPr>
          <p:cNvPr id="74" name="Picture 73" descr="smart-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655" y="4361571"/>
            <a:ext cx="241937" cy="24193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381948" y="4664746"/>
            <a:ext cx="4033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F5F5F"/>
                </a:solidFill>
                <a:latin typeface="Arial"/>
              </a:rPr>
              <a:t>device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725137" y="4482540"/>
            <a:ext cx="663376" cy="0"/>
          </a:xfrm>
          <a:prstGeom prst="line">
            <a:avLst/>
          </a:prstGeom>
          <a:ln w="25400">
            <a:solidFill>
              <a:srgbClr val="9696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817757" y="4482540"/>
            <a:ext cx="2146219" cy="0"/>
          </a:xfrm>
          <a:prstGeom prst="line">
            <a:avLst/>
          </a:prstGeom>
          <a:ln w="25400">
            <a:solidFill>
              <a:srgbClr val="66B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/>
          <p:cNvSpPr/>
          <p:nvPr/>
        </p:nvSpPr>
        <p:spPr>
          <a:xfrm>
            <a:off x="6915313" y="4463029"/>
            <a:ext cx="39022" cy="39022"/>
          </a:xfrm>
          <a:prstGeom prst="ellipse">
            <a:avLst/>
          </a:prstGeom>
          <a:solidFill>
            <a:srgbClr val="66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42685" y="4250712"/>
            <a:ext cx="184277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D8C8C"/>
                </a:solidFill>
                <a:latin typeface="Arial"/>
              </a:rPr>
              <a:t>R</a:t>
            </a:r>
          </a:p>
        </p:txBody>
      </p:sp>
      <p:sp>
        <p:nvSpPr>
          <p:cNvPr id="80" name="Oval 79"/>
          <p:cNvSpPr/>
          <p:nvPr/>
        </p:nvSpPr>
        <p:spPr>
          <a:xfrm>
            <a:off x="7383579" y="4463029"/>
            <a:ext cx="39022" cy="39022"/>
          </a:xfrm>
          <a:prstGeom prst="ellipse">
            <a:avLst/>
          </a:prstGeom>
          <a:solidFill>
            <a:srgbClr val="66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10951" y="4250712"/>
            <a:ext cx="184277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D8C8C"/>
                </a:solidFill>
                <a:latin typeface="Arial"/>
              </a:rPr>
              <a:t>A</a:t>
            </a:r>
          </a:p>
        </p:txBody>
      </p:sp>
      <p:sp>
        <p:nvSpPr>
          <p:cNvPr id="82" name="Oval 81"/>
          <p:cNvSpPr/>
          <p:nvPr/>
        </p:nvSpPr>
        <p:spPr>
          <a:xfrm>
            <a:off x="7890867" y="4463029"/>
            <a:ext cx="39022" cy="39022"/>
          </a:xfrm>
          <a:prstGeom prst="ellipse">
            <a:avLst/>
          </a:prstGeom>
          <a:solidFill>
            <a:srgbClr val="66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823002" y="4250712"/>
            <a:ext cx="174752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D8C8C"/>
                </a:solidFill>
                <a:latin typeface="Arial"/>
              </a:rPr>
              <a:t>S</a:t>
            </a:r>
          </a:p>
        </p:txBody>
      </p:sp>
      <p:sp>
        <p:nvSpPr>
          <p:cNvPr id="84" name="Oval 83"/>
          <p:cNvSpPr/>
          <p:nvPr/>
        </p:nvSpPr>
        <p:spPr>
          <a:xfrm>
            <a:off x="8866421" y="4463029"/>
            <a:ext cx="39022" cy="39022"/>
          </a:xfrm>
          <a:prstGeom prst="ellipse">
            <a:avLst/>
          </a:prstGeom>
          <a:solidFill>
            <a:srgbClr val="66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793793" y="4250712"/>
            <a:ext cx="184277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D8C8C"/>
                </a:solidFill>
                <a:latin typeface="Arial"/>
              </a:rPr>
              <a:t>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87374" y="4684257"/>
            <a:ext cx="1724052" cy="1428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5F5F5F"/>
                </a:solidFill>
                <a:latin typeface="Arial"/>
              </a:rPr>
              <a:t>Request · Ack · Start · Complete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13096" y="5612187"/>
            <a:ext cx="1222502" cy="2381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Arial"/>
              </a:rPr>
              <a:t>Smart Space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13096" y="6024890"/>
            <a:ext cx="1924127" cy="3492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5F5F5F"/>
                </a:solidFill>
                <a:latin typeface="Arial"/>
              </a:rPr>
              <a:t>IoT devices + mesh network +</a:t>
            </a:r>
          </a:p>
          <a:p>
            <a:pPr algn="l"/>
            <a:r>
              <a:rPr sz="1100" b="0" i="0">
                <a:solidFill>
                  <a:srgbClr val="5F5F5F"/>
                </a:solidFill>
                <a:latin typeface="Arial"/>
              </a:rPr>
              <a:t>people</a:t>
            </a:r>
          </a:p>
        </p:txBody>
      </p:sp>
      <p:cxnSp>
        <p:nvCxnSpPr>
          <p:cNvPr id="89" name="Connector 88"/>
          <p:cNvCxnSpPr/>
          <p:nvPr/>
        </p:nvCxnSpPr>
        <p:spPr>
          <a:xfrm flipV="1">
            <a:off x="5569048" y="5614183"/>
            <a:ext cx="195111" cy="429243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569048" y="6043426"/>
            <a:ext cx="468266" cy="273156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764159" y="5614183"/>
            <a:ext cx="819465" cy="390221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6037314" y="6004404"/>
            <a:ext cx="546310" cy="312178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037314" y="6316582"/>
            <a:ext cx="702399" cy="39022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83624" y="6004404"/>
            <a:ext cx="156089" cy="35120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583624" y="5809293"/>
            <a:ext cx="702399" cy="195111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739713" y="5809293"/>
            <a:ext cx="546310" cy="546311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286023" y="5809293"/>
            <a:ext cx="546310" cy="273156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286023" y="5809293"/>
            <a:ext cx="936532" cy="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832333" y="5809293"/>
            <a:ext cx="390222" cy="273156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764159" y="5614183"/>
            <a:ext cx="1521864" cy="195110"/>
          </a:xfrm>
          <a:prstGeom prst="line">
            <a:avLst/>
          </a:prstGeom>
          <a:ln w="9525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Picture 100" descr="smart-coffee-ma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275" y="5914653"/>
            <a:ext cx="257546" cy="257546"/>
          </a:xfrm>
          <a:prstGeom prst="rect">
            <a:avLst/>
          </a:prstGeom>
        </p:spPr>
      </p:pic>
      <p:pic>
        <p:nvPicPr>
          <p:cNvPr id="102" name="Picture 101" descr="smart-bul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386" y="5485409"/>
            <a:ext cx="257546" cy="257546"/>
          </a:xfrm>
          <a:prstGeom prst="rect">
            <a:avLst/>
          </a:prstGeom>
        </p:spPr>
      </p:pic>
      <p:pic>
        <p:nvPicPr>
          <p:cNvPr id="103" name="Picture 102" descr="smart-spea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541" y="6187808"/>
            <a:ext cx="257546" cy="257546"/>
          </a:xfrm>
          <a:prstGeom prst="rect">
            <a:avLst/>
          </a:prstGeom>
        </p:spPr>
      </p:pic>
      <p:pic>
        <p:nvPicPr>
          <p:cNvPr id="104" name="Picture 103" descr="smart-fri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071" y="5875631"/>
            <a:ext cx="253105" cy="257546"/>
          </a:xfrm>
          <a:prstGeom prst="rect">
            <a:avLst/>
          </a:prstGeom>
        </p:spPr>
      </p:pic>
      <p:pic>
        <p:nvPicPr>
          <p:cNvPr id="105" name="Picture 104" descr="smart-vacuu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940" y="6226831"/>
            <a:ext cx="257546" cy="257546"/>
          </a:xfrm>
          <a:prstGeom prst="rect">
            <a:avLst/>
          </a:prstGeom>
        </p:spPr>
      </p:pic>
      <p:pic>
        <p:nvPicPr>
          <p:cNvPr id="106" name="Picture 105" descr="came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7250" y="5680520"/>
            <a:ext cx="257546" cy="257546"/>
          </a:xfrm>
          <a:prstGeom prst="rect">
            <a:avLst/>
          </a:prstGeom>
        </p:spPr>
      </p:pic>
      <p:pic>
        <p:nvPicPr>
          <p:cNvPr id="107" name="Picture 106" descr="smart-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6085" y="5953675"/>
            <a:ext cx="252496" cy="257546"/>
          </a:xfrm>
          <a:prstGeom prst="rect">
            <a:avLst/>
          </a:prstGeom>
        </p:spPr>
      </p:pic>
      <p:pic>
        <p:nvPicPr>
          <p:cNvPr id="108" name="Picture 107" descr="motion-sens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3782" y="5680520"/>
            <a:ext cx="257546" cy="257546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2581440" y="146304"/>
            <a:ext cx="7028814" cy="396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141414"/>
                </a:solidFill>
                <a:latin typeface="Arial"/>
              </a:rPr>
              <a:t>Three user-aware planes of smart-space control</a:t>
            </a:r>
          </a:p>
        </p:txBody>
      </p:sp>
      <p:pic>
        <p:nvPicPr>
          <p:cNvPr id="113" name="Graphic 112" descr="User outline">
            <a:extLst>
              <a:ext uri="{FF2B5EF4-FFF2-40B4-BE49-F238E27FC236}">
                <a16:creationId xmlns:a16="http://schemas.microsoft.com/office/drawing/2014/main" id="{356A8A2F-7369-EDA5-F6A5-D4B3734DA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2697" y="880411"/>
            <a:ext cx="574327" cy="574327"/>
          </a:xfrm>
          <a:prstGeom prst="rect">
            <a:avLst/>
          </a:prstGeom>
        </p:spPr>
      </p:pic>
      <p:pic>
        <p:nvPicPr>
          <p:cNvPr id="114" name="Graphic 113" descr="User outline">
            <a:extLst>
              <a:ext uri="{FF2B5EF4-FFF2-40B4-BE49-F238E27FC236}">
                <a16:creationId xmlns:a16="http://schemas.microsoft.com/office/drawing/2014/main" id="{4436B26D-80DE-BF5C-78BE-EB2A40969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8154" y="5828922"/>
            <a:ext cx="574327" cy="5743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96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Karanika, Anna</cp:lastModifiedBy>
  <cp:revision>2</cp:revision>
  <dcterms:created xsi:type="dcterms:W3CDTF">2013-01-27T09:14:16Z</dcterms:created>
  <dcterms:modified xsi:type="dcterms:W3CDTF">2026-06-29T22:46:13Z</dcterms:modified>
  <cp:category/>
</cp:coreProperties>
</file>